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88952" cy="73152"/>
          </a:xfrm>
          <a:prstGeom prst="rect">
            <a:avLst/>
          </a:prstGeom>
          <a:solidFill>
            <a:srgbClr val="2B5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Deep Residual Learning for Image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34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ED8FF"/>
                </a:solidFill>
              </a:rPr>
              <a:t>ResNet: 残差学習による超深層ニューラルネットワーク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66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ED8FF"/>
                </a:solidFill>
              </a:rPr>
              <a:t>Kaiming He, Xiangyu Zhang, Shaoqing Ren, Jian Sun  （Microsoft Research）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0AFD4"/>
                </a:solidFill>
              </a:rPr>
              <a:t>CVPR 2016  |  引用数 200,000+（最多被引用論文の一つ）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B5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目次 / 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/>
            <a:r>
              <a:rPr lang="ja-JP" altLang="en-US" sz="1800" b="1">
                <a:solidFill>
                  <a:srgbClr val="FFFFFF"/>
                </a:solidFill>
              </a:rPr>
              <a:t>① 導入</a:t>
            </a:r>
          </a:p>
          <a:p>
            <a:pPr indent="0" marL="0"/>
            <a:r>
              <a:rPr lang="ja-JP" altLang="en-US" sz="1400">
                <a:solidFill>
                  <a:srgbClr val="CCCCCC"/>
                </a:solidFill>
              </a:rPr>
              <a:t>　　研究背景 ／ 問題提起 ／ 解決のポイント</a:t>
            </a:r>
          </a:p>
          <a:p>
            <a:pPr indent="0" marL="0"/>
            <a:r>
              <a:rPr lang="ja-JP" altLang="en-US" sz="1800" b="1">
                <a:solidFill>
                  <a:srgbClr val="FFFFFF"/>
                </a:solidFill>
              </a:rPr>
              <a:t>② 関連研究</a:t>
            </a:r>
          </a:p>
          <a:p>
            <a:pPr indent="0" marL="0"/>
            <a:r>
              <a:rPr lang="ja-JP" altLang="en-US" sz="1400">
                <a:solidFill>
                  <a:srgbClr val="CCCCCC"/>
                </a:solidFill>
              </a:rPr>
              <a:t>　　残差に関する研究 ／ Shortcut接続の歴史 ／ ResNetとの違い</a:t>
            </a:r>
          </a:p>
          <a:p>
            <a:pPr indent="0" marL="0"/>
            <a:r>
              <a:rPr lang="ja-JP" altLang="en-US" sz="1800" b="1">
                <a:solidFill>
                  <a:srgbClr val="FFFFFF"/>
                </a:solidFill>
              </a:rPr>
              <a:t>③ 開発手法</a:t>
            </a:r>
          </a:p>
          <a:p>
            <a:pPr indent="0" marL="0"/>
            <a:r>
              <a:rPr lang="ja-JP" altLang="en-US" sz="1400">
                <a:solidFill>
                  <a:srgbClr val="CCCCCC"/>
                </a:solidFill>
              </a:rPr>
              <a:t>　　基本アイデア ／ スキップ接続 ／ ネットワーク構造</a:t>
            </a:r>
          </a:p>
          <a:p>
            <a:pPr indent="0" marL="0"/>
            <a:r>
              <a:rPr lang="ja-JP" altLang="en-US" sz="1800" b="1">
                <a:solidFill>
                  <a:srgbClr val="FFFFFF"/>
                </a:solidFill>
              </a:rPr>
              <a:t>④ 実験</a:t>
            </a:r>
          </a:p>
          <a:p>
            <a:pPr indent="0" marL="0"/>
            <a:r>
              <a:rPr lang="ja-JP" altLang="en-US" sz="1400">
                <a:solidFill>
                  <a:srgbClr val="CCCCCC"/>
                </a:solidFill>
              </a:rPr>
              <a:t>　　ImageNet分類 ／ CIFAR-10 ／ 物体検出</a:t>
            </a:r>
          </a:p>
          <a:p>
            <a:pPr indent="0" marL="0"/>
            <a:r>
              <a:rPr lang="ja-JP" altLang="en-US" sz="1800" b="1">
                <a:solidFill>
                  <a:srgbClr val="FFFFFF"/>
                </a:solidFill>
              </a:rPr>
              <a:t>⑤ 結果 ／ おまけ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B5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研究背景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深層学習の急速な発展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VGGNet（2014）: 19 層で高精度を達成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GoogLeNet（2014）: 22 層のインセプション構造</a:t>
            </a:r>
          </a:p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「層を深くすれば精度が上がる」という直感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表現力の増加 → 複雑な特徴の抽出が可能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非線形変換の積み重ね</a:t>
            </a:r>
          </a:p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しかし、単純に深くするだけでは問題が生じる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勾配消失 / 勾配爆発（Gradient Vanishing / Exploding）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Batch Normalization 等で一定程度は対処可能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B5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問題提起：劣化問題（Degradation Problem）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実験的に確認された意外な現象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56層ネットワーク が 20層ネットワーク より誤差が大きい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訓練誤差・テスト誤差ともに悪化 → 過学習ではない！</a:t>
            </a:r>
          </a:p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恒等写像（Identity Mapping）すら学習できない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深いネットワークが浅いネットワークと同等以上を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保証できない最適化の難しさ</a:t>
            </a:r>
          </a:p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従来手法の限界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単純なスキップ接続なし → 勾配の流れが断絶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初期化・正規化だけでは解決不十分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B5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提案手法：Residual Learning（残差学習）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核心アイデア：ショートカット接続（Skip Connection）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入力 x をそのまま出力に足し算する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F(x) + x  を学習  （F(x) = 残差 = 求めたい差分）</a:t>
            </a:r>
          </a:p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なぜ有効か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恒等写像の学習が容易に（F(x)→0 にするだけ）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勾配がショートカット経路を通り直接伝播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極めてシンプルな変更 — 追加パラメータなし</a:t>
            </a:r>
          </a:p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数式表現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y = F(x, {Wi}) + x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F = 2〜3 層の重み付き変換（Conv-BN-ReLU）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B5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ネットワークアーキテクチャ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051560"/>
            <a:ext cx="36576" cy="5394960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9728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5FAD"/>
                </a:solidFill>
              </a:rPr>
              <a:t>Residual Block の構造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554480"/>
            <a:ext cx="5577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800" b="1">
                <a:solidFill>
                  <a:srgbClr val="1A3A6C"/>
                </a:solidFill>
              </a:rPr>
              <a:t>• Plain Block（浅い層向け）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3×3 Conv → BN → ReLU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3×3 Conv → BN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+ Shortcut → ReLU</a:t>
            </a:r>
          </a:p>
          <a:p>
            <a:pPr>
              <a:spcBef>
                <a:spcPts val="500"/>
              </a:spcBef>
            </a:pPr>
            <a:r>
              <a:rPr sz="1800" b="1">
                <a:solidFill>
                  <a:srgbClr val="1A3A6C"/>
                </a:solidFill>
              </a:rPr>
              <a:t>• Bottleneck Block（深い層向け）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1×1 Conv（次元削減）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3×3 Conv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1×1 Conv（次元復元）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+ Shortcut → ReLU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5FAD"/>
                </a:solidFill>
              </a:rPr>
              <a:t>ResNet 各バリアント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554480"/>
            <a:ext cx="5577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800" b="1">
                <a:solidFill>
                  <a:srgbClr val="1A3A6C"/>
                </a:solidFill>
              </a:rPr>
              <a:t>• ResNet-18  （18 層）</a:t>
            </a:r>
          </a:p>
          <a:p>
            <a:pPr>
              <a:spcBef>
                <a:spcPts val="500"/>
              </a:spcBef>
            </a:pPr>
            <a:r>
              <a:rPr sz="1800" b="1">
                <a:solidFill>
                  <a:srgbClr val="1A3A6C"/>
                </a:solidFill>
              </a:rPr>
              <a:t>• ResNet-34  （34 層）</a:t>
            </a:r>
          </a:p>
          <a:p>
            <a:pPr>
              <a:spcBef>
                <a:spcPts val="500"/>
              </a:spcBef>
            </a:pPr>
            <a:r>
              <a:rPr sz="1800" b="1">
                <a:solidFill>
                  <a:srgbClr val="1A3A6C"/>
                </a:solidFill>
              </a:rPr>
              <a:t>• ResNet-50  （50 層 / Bottleneck）</a:t>
            </a:r>
          </a:p>
          <a:p>
            <a:pPr>
              <a:spcBef>
                <a:spcPts val="500"/>
              </a:spcBef>
            </a:pPr>
            <a:r>
              <a:rPr sz="1800" b="1">
                <a:solidFill>
                  <a:srgbClr val="1A3A6C"/>
                </a:solidFill>
              </a:rPr>
              <a:t>• ResNet-101 （101 層）</a:t>
            </a:r>
          </a:p>
          <a:p>
            <a:pPr>
              <a:spcBef>
                <a:spcPts val="500"/>
              </a:spcBef>
            </a:pPr>
            <a:r>
              <a:rPr sz="1800" b="1">
                <a:solidFill>
                  <a:srgbClr val="1A3A6C"/>
                </a:solidFill>
              </a:rPr>
              <a:t>• ResNet-152 （152 層）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当時の最深ネットワーク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VGGNet の8倍の深さ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計算量は VGGNet より少ない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B5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実験結果①：ImageNet LSVRC 2015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Top-5 誤差率の比較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ResNet-152:  3.57%  ← LSVRC 2015 優勝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GoogLeNet (2014):  6.67%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VGGNet-19:  7.32%</a:t>
            </a:r>
          </a:p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人間レベル（5.1%）を初めて超えた！</a:t>
            </a:r>
          </a:p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Ensemble（6モデル）での最終スコア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Classification / Detection / Localization 全タスクで1位</a:t>
            </a:r>
          </a:p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深さの効果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34層 Plain &lt; 34層 ResNet（劣化問題を解消）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152層 ResNet &gt; 34層 ResNet（深さが有効に機能）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B5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実験結果②：CIFAR-10 &amp; COCO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CIFAR-10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ResNet-110:  誤差率 6.43%（当時 state-of-the-art）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1,202層の超深層モデルでも学習可能を実証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ResNet-1202:  誤差率 7.93%（過学習が若干発生）</a:t>
            </a:r>
          </a:p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MS COCO Object Detection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Faster R-CNN + ResNet-101 で大幅な精度向上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COCO Detection Challenge 2015 — 1位</a:t>
            </a:r>
          </a:p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PASCAL VOC 2012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物体検出でも最高精度を達成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特徴抽出バックボーンとして高い汎用性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B5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まとめと影響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論文の貢献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残差学習で 100層以上のネットワークを実用化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ショートカット接続という極めてシンプルなアイデア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最適化の困難を根本から解決</a:t>
            </a:r>
          </a:p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後続研究への影響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ResNeXt, DenseNet, WideResNet, SENet …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BERT / Vision Transformer も残差接続を採用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物体検出・セグメンテーション等のバックボーンとして普及</a:t>
            </a:r>
          </a:p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CVPR 2016 Best Paper Award 受賞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引用数 200,000 超（2024年時点）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深層学習の発展に最も貢献した論文の一つ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A3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B5F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Takeaway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劣化問題 は過学習でも勾配消失でもない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最適化自体の困難さに起因する</a:t>
            </a:r>
          </a:p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Shortcut Connection で恒等写像を容易に学習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F(x) + x  ─ シンプルかつ強力</a:t>
            </a:r>
          </a:p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「深さ」が本質的に性能向上に寄与することを実証</a:t>
            </a:r>
          </a:p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実装の容易さ・汎用性の高さ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追加パラメータなし</a:t>
            </a:r>
          </a:p>
          <a:p>
            <a:pPr lvl="1">
              <a:spcBef>
                <a:spcPts val="200"/>
              </a:spcBef>
            </a:pPr>
            <a:r>
              <a:rPr sz="1600" b="0">
                <a:solidFill>
                  <a:srgbClr val="2D3748"/>
                </a:solidFill>
              </a:rPr>
              <a:t>  – あらゆるアーキテクチャに適用可能</a:t>
            </a:r>
          </a:p>
          <a:p>
            <a:pPr>
              <a:spcBef>
                <a:spcPts val="600"/>
              </a:spcBef>
            </a:pPr>
            <a:r>
              <a:rPr sz="1900" b="1">
                <a:solidFill>
                  <a:srgbClr val="1A3A6C"/>
                </a:solidFill>
              </a:rPr>
              <a:t>• 現代深層学習の基礎を形成した金字塔論文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